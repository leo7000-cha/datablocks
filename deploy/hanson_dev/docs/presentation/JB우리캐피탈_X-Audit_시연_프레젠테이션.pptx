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D7DF6"/>
                </a:solidFill>
                <a:latin typeface="맑은 고딕"/>
              </a:defRPr>
            </a:pPr>
            <a:r>
              <a:t>X-One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07080"/>
                </a:solidFill>
                <a:latin typeface="맑은 고딕"/>
              </a:defRPr>
            </a:pPr>
            <a:r>
              <a:t>All Data. One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접속기록관리 솔루션 데모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8F1FD"/>
                </a:solidFill>
                <a:latin typeface="맑은 고딕"/>
              </a:defRPr>
            </a:pPr>
            <a:r>
              <a:t>X-Audit  |  이상행위 탐지 · 소명관리 · 법규준수 자동화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77639"/>
            <a:ext cx="2286000" cy="36576"/>
          </a:xfrm>
          <a:prstGeom prst="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07080"/>
                </a:solidFill>
                <a:latin typeface="맑은 고딕"/>
              </a:defRPr>
            </a:pPr>
            <a:r>
              <a:t>JB우리캐피탈 솔루션 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07080"/>
                </a:solidFill>
                <a:latin typeface="맑은 고딕"/>
              </a:defRPr>
            </a:pPr>
            <a:r>
              <a:t>2026년 4월  |  데이터블록스 (Datablocks)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560320" cy="7772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155448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X-Scan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90195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07080"/>
                </a:solidFill>
                <a:latin typeface="맑은 고딕"/>
              </a:defRPr>
            </a:pPr>
            <a:r>
              <a:t>개인정보 탐지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514600"/>
            <a:ext cx="2560320" cy="7772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60604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X-Purge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95351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07080"/>
                </a:solidFill>
                <a:latin typeface="맑은 고딕"/>
              </a:defRPr>
            </a:pPr>
            <a:r>
              <a:t>개인정보 파기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3566160"/>
            <a:ext cx="2560320" cy="777240"/>
          </a:xfrm>
          <a:prstGeom prst="round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365760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X-Audit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400507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F1FD"/>
                </a:solidFill>
                <a:latin typeface="맑은 고딕"/>
              </a:defRPr>
            </a:pPr>
            <a:r>
              <a:t>접속기록 / 소명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4617720"/>
            <a:ext cx="2560320" cy="7772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470916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X-Gen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505663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07080"/>
                </a:solidFill>
                <a:latin typeface="맑은 고딕"/>
              </a:defRPr>
            </a:pPr>
            <a:r>
              <a:t>테스트데이터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0C0C8"/>
                </a:solidFill>
                <a:latin typeface="맑은 고딕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왜 접속기록관리가 필요한가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0C0C8"/>
                </a:solidFill>
                <a:latin typeface="맑은 고딕"/>
              </a:defRPr>
            </a:pPr>
            <a:r>
              <a:t>2026 개정법 — 관리 체계 부재 자체가 처벌 대상입니다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246888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21031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B2A4A"/>
                </a:solidFill>
                <a:latin typeface="맑은 고딕"/>
              </a:defRPr>
            </a:pPr>
            <a:r>
              <a:t>접속기록 미보관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83E3E"/>
                </a:solidFill>
                <a:latin typeface="맑은 고딕"/>
              </a:defRPr>
            </a:pPr>
            <a:r>
              <a:t>3,000만원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07080"/>
                </a:solidFill>
                <a:latin typeface="맑은 고딕"/>
              </a:defRPr>
            </a:pPr>
            <a:r>
              <a:t>과태료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280160"/>
            <a:ext cx="246888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463040"/>
            <a:ext cx="21031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B2A4A"/>
                </a:solidFill>
                <a:latin typeface="맑은 고딕"/>
              </a:defRPr>
            </a:pPr>
            <a:r>
              <a:t>안전조치 미흡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196596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83E3E"/>
                </a:solidFill>
                <a:latin typeface="맑은 고딕"/>
              </a:defRPr>
            </a:pPr>
            <a:r>
              <a:t>3,000만원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51460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07080"/>
                </a:solidFill>
                <a:latin typeface="맑은 고딕"/>
              </a:defRPr>
            </a:pPr>
            <a:r>
              <a:t>과태료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246888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21031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B2A4A"/>
                </a:solidFill>
                <a:latin typeface="맑은 고딕"/>
              </a:defRPr>
            </a:pPr>
            <a:r>
              <a:t>파기+접속기록</a:t>
            </a:r>
            <a:br/>
            <a:r>
              <a:t>중복 위반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6596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83E3E"/>
                </a:solidFill>
                <a:latin typeface="맑은 고딕"/>
              </a:defRPr>
            </a:pPr>
            <a:r>
              <a:t>6,000만원+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1460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07080"/>
                </a:solidFill>
                <a:latin typeface="맑은 고딕"/>
              </a:defRPr>
            </a:pPr>
            <a:r>
              <a:t>누적 과태료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280160"/>
            <a:ext cx="246888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463040"/>
            <a:ext cx="21031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B2A4A"/>
                </a:solidFill>
                <a:latin typeface="맑은 고딕"/>
              </a:defRPr>
            </a:pPr>
            <a:r>
              <a:t>유출 사고 연계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196596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83E3E"/>
                </a:solidFill>
                <a:latin typeface="맑은 고딕"/>
              </a:defRPr>
            </a:pPr>
            <a:r>
              <a:t>매출 3~10%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51460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07080"/>
                </a:solidFill>
                <a:latin typeface="맑은 고딕"/>
              </a:defRPr>
            </a:pPr>
            <a:r>
              <a:t>과징금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2461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B2A4A"/>
                </a:solidFill>
                <a:latin typeface="맑은 고딕"/>
              </a:defRPr>
            </a:pPr>
            <a:r>
              <a:t>주요 의무 조항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822960" y="3611880"/>
          <a:ext cx="6858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3657600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법령</a:t>
                      </a:r>
                    </a:p>
                  </a:txBody>
                  <a:tcPr anchor="ctr" marL="91440" marR="91440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조항</a:t>
                      </a:r>
                    </a:p>
                  </a:txBody>
                  <a:tcPr anchor="ctr" marL="91440" marR="91440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내용</a:t>
                      </a:r>
                    </a:p>
                  </a:txBody>
                  <a:tcPr anchor="ctr" marL="91440" marR="91440" marT="36576" marB="36576">
                    <a:solidFill>
                      <a:srgbClr val="1B2A4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안전성확보조치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제8조 1항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접속기록 최소 1년 보관 (금융사 5년)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안전성확보조치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제8조 2·3항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월 1회 이상 점검 / 위·변조 방지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안전성확보조치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제5조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비인가 접근 탐지 및 통제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개인정보보호법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제29조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안전조치 의무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전자금융감독규정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제14조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가동기록 1년 이상 보존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8229600" y="3246120"/>
            <a:ext cx="3200400" cy="2377440"/>
          </a:xfrm>
          <a:prstGeom prst="round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342900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Bef>
                <a:spcPts val="320"/>
              </a:spcBef>
              <a:spcAft>
                <a:spcPts val="320"/>
              </a:spcAft>
              <a:defRPr b="1" sz="1400">
                <a:solidFill>
                  <a:srgbClr val="2D7DF6"/>
                </a:solidFill>
                <a:latin typeface="맑은 고딕"/>
              </a:defRPr>
            </a:pPr>
            <a:r>
              <a:t>핵심 포인트</a:t>
            </a:r>
          </a:p>
          <a:p>
            <a:pPr algn="l">
              <a:lnSpc>
                <a:spcPts val="2240"/>
              </a:lnSpc>
              <a:spcBef>
                <a:spcPts val="320"/>
              </a:spcBef>
              <a:spcAft>
                <a:spcPts val="320"/>
              </a:spcAft>
              <a:defRPr b="0" sz="800">
                <a:solidFill>
                  <a:srgbClr val="1A1A2E"/>
                </a:solidFill>
                <a:latin typeface="맑은 고딕"/>
              </a:defRPr>
            </a:pPr>
          </a:p>
          <a:p>
            <a:pPr algn="l">
              <a:lnSpc>
                <a:spcPts val="2240"/>
              </a:lnSpc>
              <a:spcBef>
                <a:spcPts val="320"/>
              </a:spcBef>
              <a:spcAft>
                <a:spcPts val="320"/>
              </a:spcAft>
              <a:defRPr b="0" sz="1200">
                <a:solidFill>
                  <a:srgbClr val="1A1A2E"/>
                </a:solidFill>
                <a:latin typeface="맑은 고딕"/>
              </a:defRPr>
            </a:pPr>
            <a:r>
              <a:t>솔루션 도입/투자 증빙은</a:t>
            </a:r>
          </a:p>
          <a:p>
            <a:pPr algn="l">
              <a:lnSpc>
                <a:spcPts val="2240"/>
              </a:lnSpc>
              <a:spcBef>
                <a:spcPts val="320"/>
              </a:spcBef>
              <a:spcAft>
                <a:spcPts val="320"/>
              </a:spcAft>
              <a:defRPr b="1" sz="1600">
                <a:solidFill>
                  <a:srgbClr val="E83E3E"/>
                </a:solidFill>
                <a:latin typeface="맑은 고딕"/>
              </a:defRPr>
            </a:pPr>
            <a:r>
              <a:t>과징금 감경 실질 수단</a:t>
            </a:r>
          </a:p>
          <a:p>
            <a:pPr algn="l">
              <a:lnSpc>
                <a:spcPts val="2240"/>
              </a:lnSpc>
              <a:spcBef>
                <a:spcPts val="320"/>
              </a:spcBef>
              <a:spcAft>
                <a:spcPts val="320"/>
              </a:spcAft>
              <a:defRPr b="0" sz="1100">
                <a:solidFill>
                  <a:srgbClr val="707080"/>
                </a:solidFill>
                <a:latin typeface="맑은 고딕"/>
              </a:defRPr>
            </a:pPr>
            <a:r>
              <a:t>(개정법 명시)</a:t>
            </a:r>
          </a:p>
          <a:p>
            <a:pPr algn="l">
              <a:lnSpc>
                <a:spcPts val="2240"/>
              </a:lnSpc>
              <a:spcBef>
                <a:spcPts val="320"/>
              </a:spcBef>
              <a:spcAft>
                <a:spcPts val="320"/>
              </a:spcAft>
              <a:defRPr b="0" sz="800">
                <a:solidFill>
                  <a:srgbClr val="1A1A2E"/>
                </a:solidFill>
                <a:latin typeface="맑은 고딕"/>
              </a:defRPr>
            </a:pPr>
          </a:p>
          <a:p>
            <a:pPr algn="l">
              <a:lnSpc>
                <a:spcPts val="2240"/>
              </a:lnSpc>
              <a:spcBef>
                <a:spcPts val="320"/>
              </a:spcBef>
              <a:spcAft>
                <a:spcPts val="320"/>
              </a:spcAft>
              <a:defRPr b="1" sz="1300">
                <a:solidFill>
                  <a:srgbClr val="E83E3E"/>
                </a:solidFill>
                <a:latin typeface="맑은 고딕"/>
              </a:defRPr>
            </a:pPr>
            <a:r>
              <a:t>CPO/대표자 직접 책임</a:t>
            </a:r>
          </a:p>
          <a:p>
            <a:pPr algn="l">
              <a:lnSpc>
                <a:spcPts val="2240"/>
              </a:lnSpc>
              <a:spcBef>
                <a:spcPts val="320"/>
              </a:spcBef>
              <a:spcAft>
                <a:spcPts val="320"/>
              </a:spcAft>
              <a:defRPr b="0" sz="1100">
                <a:solidFill>
                  <a:srgbClr val="707080"/>
                </a:solidFill>
                <a:latin typeface="맑은 고딕"/>
              </a:defRPr>
            </a:pPr>
            <a:r>
              <a:t>이사회 보고 의무화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989320"/>
            <a:ext cx="10545775" cy="5486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035040"/>
            <a:ext cx="105457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  X-One 하나의 도입으로 4개 영역의 투자 증빙을 한꺼번에 확보합니다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0C0C8"/>
                </a:solidFill>
                <a:latin typeface="맑은 고딕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X-One 통합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0C0C8"/>
                </a:solidFill>
                <a:latin typeface="맑은 고딕"/>
              </a:defRPr>
            </a:pPr>
            <a:r>
              <a:t>인지 → 통제 → 감시 → 활용을 하나의 플랫폼으로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D7DF6"/>
                </a:solidFill>
                <a:latin typeface="맑은 고딕"/>
              </a:defRPr>
            </a:pPr>
            <a:r>
              <a:t>01  인지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24688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B2A4A"/>
                </a:solidFill>
                <a:latin typeface="맑은 고딕"/>
              </a:defRPr>
            </a:pPr>
            <a:r>
              <a:t>X-Scan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07080"/>
                </a:solidFill>
                <a:latin typeface="맑은 고딕"/>
              </a:defRPr>
            </a:pPr>
            <a:r>
              <a:t>개인정보 자동 탐지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2651760"/>
            <a:ext cx="1554480" cy="18288"/>
          </a:xfrm>
          <a:prstGeom prst="rect">
            <a:avLst/>
          </a:prstGeom>
          <a:solidFill>
            <a:srgbClr val="C0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07080"/>
                </a:solidFill>
                <a:latin typeface="맑은 고딕"/>
              </a:defRPr>
            </a:pPr>
            <a:r>
              <a:t>AI+패턴+메타 3중 분석</a:t>
            </a:r>
            <a:br/>
            <a:r>
              <a:t>전사 DB PII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377440"/>
            <a:ext cx="228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0C0C8"/>
                </a:solidFill>
                <a:latin typeface="맑은 고딕"/>
              </a:defRPr>
            </a:pPr>
            <a: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28016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EA05E"/>
                </a:solidFill>
                <a:latin typeface="맑은 고딕"/>
              </a:defRPr>
            </a:pPr>
            <a:r>
              <a:t>02  통제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1600200"/>
            <a:ext cx="24688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82880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B2A4A"/>
                </a:solidFill>
                <a:latin typeface="맑은 고딕"/>
              </a:defRPr>
            </a:pPr>
            <a:r>
              <a:t>X-Purge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24028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07080"/>
                </a:solidFill>
                <a:latin typeface="맑은 고딕"/>
              </a:defRPr>
            </a:pPr>
            <a:r>
              <a:t>개인정보 완전 파기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77640" y="2651760"/>
            <a:ext cx="1554480" cy="18288"/>
          </a:xfrm>
          <a:prstGeom prst="rect">
            <a:avLst/>
          </a:prstGeom>
          <a:solidFill>
            <a:srgbClr val="C0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283464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07080"/>
                </a:solidFill>
                <a:latin typeface="맑은 고딕"/>
              </a:defRPr>
            </a:pPr>
            <a:r>
              <a:t>No-Code Wizard</a:t>
            </a:r>
            <a:br/>
            <a:r>
              <a:t>6단계 전자동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377440"/>
            <a:ext cx="228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0C0C8"/>
                </a:solidFill>
                <a:latin typeface="맑은 고딕"/>
              </a:defRPr>
            </a:pPr>
            <a:r>
              <a:t>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28016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D7DF6"/>
                </a:solidFill>
                <a:latin typeface="맑은 고딕"/>
              </a:defRPr>
            </a:pPr>
            <a:r>
              <a:t>03  감시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00200"/>
            <a:ext cx="2468880" cy="23774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82880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X-Audit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24028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F1FD"/>
                </a:solidFill>
                <a:latin typeface="맑은 고딕"/>
              </a:defRPr>
            </a:pPr>
            <a:r>
              <a:t>접속기록 / 소명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2651760"/>
            <a:ext cx="1554480" cy="18288"/>
          </a:xfrm>
          <a:prstGeom prst="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83464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F1FD"/>
                </a:solidFill>
                <a:latin typeface="맑은 고딕"/>
              </a:defRPr>
            </a:pPr>
            <a:r>
              <a:t>5W1H 실시간 수집</a:t>
            </a:r>
            <a:br/>
            <a:r>
              <a:t>이상탐지+소명관리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377440"/>
            <a:ext cx="228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0C0C8"/>
                </a:solidFill>
                <a:latin typeface="맑은 고딕"/>
              </a:defRPr>
            </a:pPr>
            <a: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128016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C4DFF"/>
                </a:solidFill>
                <a:latin typeface="맑은 고딕"/>
              </a:defRPr>
            </a:pPr>
            <a:r>
              <a:t>04  활용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5400" y="1600200"/>
            <a:ext cx="24688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5400" y="182880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B2A4A"/>
                </a:solidFill>
                <a:latin typeface="맑은 고딕"/>
              </a:defRPr>
            </a:pPr>
            <a:r>
              <a:t>X-Gen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224028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07080"/>
                </a:solidFill>
                <a:latin typeface="맑은 고딕"/>
              </a:defRPr>
            </a:pPr>
            <a:r>
              <a:t>테스트데이터 생성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72600" y="2651760"/>
            <a:ext cx="1554480" cy="18288"/>
          </a:xfrm>
          <a:prstGeom prst="rect">
            <a:avLst/>
          </a:prstGeom>
          <a:solidFill>
            <a:srgbClr val="C0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20" y="283464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07080"/>
                </a:solidFill>
                <a:latin typeface="맑은 고딕"/>
              </a:defRPr>
            </a:pPr>
            <a:r>
              <a:t>연관관계 기반</a:t>
            </a:r>
            <a:br/>
            <a:r>
              <a:t>KeyMap 자동생성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251960"/>
            <a:ext cx="10545775" cy="777240"/>
          </a:xfrm>
          <a:prstGeom prst="round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297680"/>
            <a:ext cx="1054577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B2A4A"/>
                </a:solidFill>
                <a:latin typeface="맑은 고딕"/>
              </a:defRPr>
            </a:pPr>
            <a:r>
              <a:t>X-One Hub — PII 메타데이터 전 모듈 공유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617720"/>
            <a:ext cx="10545775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07080"/>
                </a:solidFill>
                <a:latin typeface="맑은 고딕"/>
              </a:defRPr>
            </a:pPr>
            <a:r>
              <a:t>통합 CPO 대시보드  |  단일 인프라  |  감사 리포트 통합 생성  |  단일 관리 콘솔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349240"/>
            <a:ext cx="10545775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440680"/>
            <a:ext cx="99971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Bef>
                <a:spcPts val="320"/>
              </a:spcBef>
              <a:spcAft>
                <a:spcPts val="320"/>
              </a:spcAft>
              <a:defRPr b="1" sz="1500">
                <a:solidFill>
                  <a:srgbClr val="2EA05E"/>
                </a:solidFill>
                <a:latin typeface="맑은 고딕"/>
              </a:defRPr>
            </a:pPr>
            <a:r>
              <a:t>핵심 경쟁력: PII 메타데이터 1회 스캔 → 전 모듈 즉시 공유</a:t>
            </a:r>
          </a:p>
          <a:p>
            <a:pPr algn="l">
              <a:lnSpc>
                <a:spcPts val="2240"/>
              </a:lnSpc>
              <a:spcBef>
                <a:spcPts val="320"/>
              </a:spcBef>
              <a:spcAft>
                <a:spcPts val="320"/>
              </a:spcAft>
              <a:defRPr b="0" sz="600">
                <a:solidFill>
                  <a:srgbClr val="1A1A2E"/>
                </a:solidFill>
                <a:latin typeface="맑은 고딕"/>
              </a:defRPr>
            </a:pPr>
          </a:p>
          <a:p>
            <a:pPr algn="l">
              <a:lnSpc>
                <a:spcPts val="2240"/>
              </a:lnSpc>
              <a:spcBef>
                <a:spcPts val="320"/>
              </a:spcBef>
              <a:spcAft>
                <a:spcPts val="320"/>
              </a:spcAft>
              <a:defRPr b="0" sz="1200">
                <a:solidFill>
                  <a:srgbClr val="1A1A2E"/>
                </a:solidFill>
                <a:latin typeface="맑은 고딕"/>
              </a:defRPr>
            </a:pPr>
            <a:r>
              <a:t>X-Scan이 발견한 PII → X-Purge(파기 대상 자동) + X-Audit(PII 접근 즉시 알림) + X-Gen(자동 마스킹)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0C0C8"/>
                </a:solidFill>
                <a:latin typeface="맑은 고딕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X-Audit: 5W1H 접속기록 자동 수집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0C0C8"/>
                </a:solidFill>
                <a:latin typeface="맑은 고딕"/>
              </a:defRPr>
            </a:pPr>
            <a:r>
              <a:t>누가, 언제, 어디서, 무엇을, 누구의 정보에, 어떻게 — 빠짐없이 기록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329184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463040"/>
            <a:ext cx="777240" cy="548640"/>
          </a:xfrm>
          <a:prstGeom prst="round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777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Who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55448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접속자 계정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29184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80" y="1463040"/>
            <a:ext cx="777240" cy="548640"/>
          </a:xfrm>
          <a:prstGeom prst="round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08760"/>
            <a:ext cx="777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55448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접속 일시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280160"/>
            <a:ext cx="329184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92440" y="1463040"/>
            <a:ext cx="777240" cy="548640"/>
          </a:xfrm>
          <a:prstGeom prst="round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508760"/>
            <a:ext cx="777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Where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55448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접속 IP / 단말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468880"/>
            <a:ext cx="329184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0120" y="2651760"/>
            <a:ext cx="777240" cy="548640"/>
          </a:xfrm>
          <a:prstGeom prst="round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2697480"/>
            <a:ext cx="777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What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27432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작업유형 (조회/수정/삭제)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2468880"/>
            <a:ext cx="329184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26280" y="2651760"/>
            <a:ext cx="777240" cy="548640"/>
          </a:xfrm>
          <a:prstGeom prst="round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2697480"/>
            <a:ext cx="777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Whom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27432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대상 테이블 (PII 등급)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2468880"/>
            <a:ext cx="329184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92440" y="2651760"/>
            <a:ext cx="777240" cy="548640"/>
          </a:xfrm>
          <a:prstGeom prst="round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2697480"/>
            <a:ext cx="777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How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7432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접근 경로 (DB/WAS/Agent)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8862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B2A4A"/>
                </a:solidFill>
                <a:latin typeface="맑은 고딕"/>
              </a:defRPr>
            </a:pPr>
            <a:r>
              <a:t>3중 수집 채널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822960" y="4206240"/>
          <a:ext cx="68580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103120"/>
              </a:tblGrid>
              <a:tr h="35433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수집 방식</a:t>
                      </a:r>
                    </a:p>
                  </a:txBody>
                  <a:tcPr anchor="ctr" marL="91440" marR="91440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역할</a:t>
                      </a:r>
                    </a:p>
                  </a:txBody>
                  <a:tcPr anchor="ctr" marL="91440" marR="91440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특징</a:t>
                      </a:r>
                    </a:p>
                  </a:txBody>
                  <a:tcPr anchor="ctr" marL="91440" marR="91440" marT="36576" marB="36576">
                    <a:solidFill>
                      <a:srgbClr val="1B2A4A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DB Audit Log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S/A급 PII 테이블 선별 수집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SQL 원본 확보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WAS Log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사용자/화면/업무 컨텍스트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Who/Why 보강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Java Agent (PSM)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JDBC 레벨 실시간 가로채기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코드 수정 불필요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8229600" y="3886200"/>
            <a:ext cx="3200400" cy="1737360"/>
          </a:xfrm>
          <a:prstGeom prst="round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402336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Bef>
                <a:spcPts val="320"/>
              </a:spcBef>
              <a:spcAft>
                <a:spcPts val="320"/>
              </a:spcAft>
              <a:defRPr b="1" sz="1300">
                <a:solidFill>
                  <a:srgbClr val="2D7DF6"/>
                </a:solidFill>
                <a:latin typeface="맑은 고딕"/>
              </a:defRPr>
            </a:pPr>
            <a:r>
              <a:t>리스크 기반 선별 로깅</a:t>
            </a:r>
          </a:p>
          <a:p>
            <a:pPr algn="ctr">
              <a:lnSpc>
                <a:spcPts val="2080"/>
              </a:lnSpc>
              <a:spcBef>
                <a:spcPts val="320"/>
              </a:spcBef>
              <a:spcAft>
                <a:spcPts val="320"/>
              </a:spcAft>
              <a:defRPr b="0" sz="800">
                <a:solidFill>
                  <a:srgbClr val="1A1A2E"/>
                </a:solidFill>
                <a:latin typeface="맑은 고딕"/>
              </a:defRPr>
            </a:pPr>
          </a:p>
          <a:p>
            <a:pPr algn="ctr">
              <a:lnSpc>
                <a:spcPts val="2080"/>
              </a:lnSpc>
              <a:spcBef>
                <a:spcPts val="320"/>
              </a:spcBef>
              <a:spcAft>
                <a:spcPts val="320"/>
              </a:spcAft>
              <a:defRPr b="1" sz="1800">
                <a:solidFill>
                  <a:srgbClr val="1B2A4A"/>
                </a:solidFill>
                <a:latin typeface="맑은 고딕"/>
              </a:defRPr>
            </a:pPr>
            <a:r>
              <a:t>연산 부하  60% 절감</a:t>
            </a:r>
          </a:p>
          <a:p>
            <a:pPr algn="ctr">
              <a:lnSpc>
                <a:spcPts val="2080"/>
              </a:lnSpc>
              <a:spcBef>
                <a:spcPts val="320"/>
              </a:spcBef>
              <a:spcAft>
                <a:spcPts val="320"/>
              </a:spcAft>
              <a:defRPr b="1" sz="1800">
                <a:solidFill>
                  <a:srgbClr val="1B2A4A"/>
                </a:solidFill>
                <a:latin typeface="맑은 고딕"/>
              </a:defRPr>
            </a:pPr>
            <a:r>
              <a:t>저장 용량  80% 절감</a:t>
            </a:r>
          </a:p>
          <a:p>
            <a:pPr algn="ctr">
              <a:lnSpc>
                <a:spcPts val="2080"/>
              </a:lnSpc>
              <a:spcBef>
                <a:spcPts val="320"/>
              </a:spcBef>
              <a:spcAft>
                <a:spcPts val="320"/>
              </a:spcAft>
              <a:defRPr b="0" sz="600">
                <a:solidFill>
                  <a:srgbClr val="1A1A2E"/>
                </a:solidFill>
                <a:latin typeface="맑은 고딕"/>
              </a:defRPr>
            </a:pPr>
          </a:p>
          <a:p>
            <a:pPr algn="ctr">
              <a:lnSpc>
                <a:spcPts val="2080"/>
              </a:lnSpc>
              <a:spcBef>
                <a:spcPts val="320"/>
              </a:spcBef>
              <a:spcAft>
                <a:spcPts val="320"/>
              </a:spcAft>
              <a:defRPr b="0" sz="1100">
                <a:solidFill>
                  <a:srgbClr val="707080"/>
                </a:solidFill>
                <a:latin typeface="맑은 고딕"/>
              </a:defRPr>
            </a:pPr>
            <a:r>
              <a:t>S급 주요 개인정보에 집중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989320"/>
            <a:ext cx="10545775" cy="5486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6035040"/>
            <a:ext cx="105457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  데이터 중요도(Static) + 접근 위험도(Dynamic) = 리스크 기반 필터링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0C0C8"/>
                </a:solidFill>
                <a:latin typeface="맑은 고딕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이상행위 자동 탐지 — 7가지 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0C0C8"/>
                </a:solidFill>
                <a:latin typeface="맑은 고딕"/>
              </a:defRPr>
            </a:pPr>
            <a:r>
              <a:t>금융권 특성에 맞게 규칙 추가/수정/삭제 자유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280160"/>
          <a:ext cx="71323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2560320"/>
                <a:gridCol w="1554480"/>
              </a:tblGrid>
              <a:tr h="3886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코드</a:t>
                      </a:r>
                    </a:p>
                  </a:txBody>
                  <a:tcPr anchor="ctr" marL="91440" marR="91440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규칙명</a:t>
                      </a:r>
                    </a:p>
                  </a:txBody>
                  <a:tcPr anchor="ctr" marL="91440" marR="91440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탐지 조건</a:t>
                      </a:r>
                    </a:p>
                  </a:txBody>
                  <a:tcPr anchor="ctr" marL="91440" marR="91440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심각도</a:t>
                      </a:r>
                    </a:p>
                  </a:txBody>
                  <a:tcPr anchor="ctr" marL="91440" marR="91440" marT="36576" marB="36576">
                    <a:solidFill>
                      <a:srgbClr val="1B2A4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R01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대량 조회 / 다운로드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시간 내 N건 이상 접근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HIGH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R02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야간 / 휴일 접근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22:00 ~ 06:00 접속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MEDIUM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R03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접근 거부 반복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시간 내 N회 이상 거부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HIGH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R04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고등급 PII 대량 접근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1급 개인정보 대량 접근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HIGH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R05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동일 테이블 반복 접근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시간 내 동일 테이블 N회+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MEDIUM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R06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미등록 IP 접속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90일 미사용 IP에서 접근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MEDIUM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R07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장기미사용 계정 접근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90일+ 미접속 계정 재접속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HIGH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03920" y="1280160"/>
            <a:ext cx="29260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37160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B2A4A"/>
                </a:solidFill>
                <a:latin typeface="맑은 고딕"/>
              </a:defRPr>
            </a:pPr>
            <a:r>
              <a:t>실시간 탐지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664208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07080"/>
                </a:solidFill>
                <a:latin typeface="맑은 고딕"/>
              </a:defRPr>
            </a:pPr>
            <a:r>
              <a:t>스케줄러 기반 자동 감지</a:t>
            </a:r>
            <a:br/>
            <a:r>
              <a:t>수집 즉시 규칙 매칭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2377440"/>
            <a:ext cx="29260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24688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B2A4A"/>
                </a:solidFill>
                <a:latin typeface="맑은 고딕"/>
              </a:defRPr>
            </a:pPr>
            <a:r>
              <a:t>심각도 분류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761488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07080"/>
                </a:solidFill>
                <a:latin typeface="맑은 고딕"/>
              </a:defRPr>
            </a:pPr>
            <a:r>
              <a:t>HIGH / MEDIUM / LOW</a:t>
            </a:r>
            <a:br/>
            <a:r>
              <a:t>우선순위 기반 대응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3474720"/>
            <a:ext cx="29260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356616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B2A4A"/>
                </a:solidFill>
                <a:latin typeface="맑은 고딕"/>
              </a:defRPr>
            </a:pPr>
            <a:r>
              <a:t>유연한 설정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858768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07080"/>
                </a:solidFill>
                <a:latin typeface="맑은 고딕"/>
              </a:defRPr>
            </a:pPr>
            <a:r>
              <a:t>임계치·시간·대상 조정</a:t>
            </a:r>
            <a:br/>
            <a:r>
              <a:t>규칙 추가/삭제 자유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4571999"/>
            <a:ext cx="29260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4663439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B2A4A"/>
                </a:solidFill>
                <a:latin typeface="맑은 고딕"/>
              </a:defRPr>
            </a:pPr>
            <a:r>
              <a:t>자동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956047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07080"/>
                </a:solidFill>
                <a:latin typeface="맑은 고딕"/>
              </a:defRPr>
            </a:pPr>
            <a:r>
              <a:t>이메일 + 대시보드</a:t>
            </a:r>
            <a:br/>
            <a:r>
              <a:t>실시간 배지 표시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486400"/>
            <a:ext cx="10545775" cy="822960"/>
          </a:xfrm>
          <a:prstGeom prst="round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577840"/>
            <a:ext cx="9997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Bef>
                <a:spcPts val="320"/>
              </a:spcBef>
              <a:spcAft>
                <a:spcPts val="320"/>
              </a:spcAft>
              <a:defRPr b="1" sz="1400">
                <a:solidFill>
                  <a:srgbClr val="2D7DF6"/>
                </a:solidFill>
                <a:latin typeface="맑은 고딕"/>
              </a:defRPr>
            </a:pPr>
            <a:r>
              <a:t>X-Scan PII 메타 자동 연동</a:t>
            </a:r>
          </a:p>
          <a:p>
            <a:pPr algn="l">
              <a:lnSpc>
                <a:spcPts val="2240"/>
              </a:lnSpc>
              <a:spcBef>
                <a:spcPts val="320"/>
              </a:spcBef>
              <a:spcAft>
                <a:spcPts val="320"/>
              </a:spcAft>
              <a:defRPr b="0" sz="1200">
                <a:solidFill>
                  <a:srgbClr val="1A1A2E"/>
                </a:solidFill>
                <a:latin typeface="맑은 고딕"/>
              </a:defRPr>
            </a:pPr>
            <a:r>
              <a:t>접속 시 PII 등급 자동 분류 → 1급 개인정보 대량 접근 시 즉시 알림 + 소명 요청 자동 발송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0C0C8"/>
                </a:solidFill>
                <a:latin typeface="맑은 고딕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소명 워크플로우 — 탐지부터 감사 증빙까지 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0C0C8"/>
                </a:solidFill>
                <a:latin typeface="맑은 고딕"/>
              </a:defRPr>
            </a:pPr>
            <a:r>
              <a:t>개인정보보호법 안전성확보조치 제29조 준수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1874519" cy="2194560"/>
          </a:xfrm>
          <a:prstGeom prst="round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87451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F1FD"/>
                </a:solidFill>
                <a:latin typeface="맑은 고딕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874519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이상행위</a:t>
            </a:r>
            <a:br/>
            <a:r>
              <a:t>자동 탐지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2468880"/>
            <a:ext cx="1234440" cy="18288"/>
          </a:xfrm>
          <a:prstGeom prst="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651760"/>
            <a:ext cx="1600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F1FD"/>
                </a:solidFill>
                <a:latin typeface="맑은 고딕"/>
              </a:defRPr>
            </a:pPr>
            <a:r>
              <a:t>7가지 규칙</a:t>
            </a:r>
            <a:br/>
            <a:r>
              <a:t>실시간 감지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205740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0C0C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1280160"/>
            <a:ext cx="1874519" cy="2194560"/>
          </a:xfrm>
          <a:prstGeom prst="roundRect">
            <a:avLst/>
          </a:prstGeom>
          <a:solidFill>
            <a:srgbClr val="42A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1417320"/>
            <a:ext cx="187451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F1FD"/>
                </a:solidFill>
                <a:latin typeface="맑은 고딕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1691640"/>
            <a:ext cx="1874519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소명 요청</a:t>
            </a:r>
            <a:br/>
            <a:r>
              <a:t>자동 발송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468880"/>
            <a:ext cx="1234440" cy="18288"/>
          </a:xfrm>
          <a:prstGeom prst="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2651760"/>
            <a:ext cx="1600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F1FD"/>
                </a:solidFill>
                <a:latin typeface="맑은 고딕"/>
              </a:defRPr>
            </a:pPr>
            <a:r>
              <a:t>이메일 발송</a:t>
            </a:r>
            <a:br/>
            <a:r>
              <a:t>72시간 기한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19" y="205740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0C0C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1280160"/>
            <a:ext cx="1874519" cy="2194560"/>
          </a:xfrm>
          <a:prstGeom prst="roundRect">
            <a:avLst/>
          </a:prstGeom>
          <a:solidFill>
            <a:srgbClr val="2EA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1417320"/>
            <a:ext cx="187451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F1FD"/>
                </a:solidFill>
                <a:latin typeface="맑은 고딕"/>
              </a:defRPr>
            </a:pPr>
            <a: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1691640"/>
            <a:ext cx="1874519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담당자</a:t>
            </a:r>
            <a:br/>
            <a:r>
              <a:t>소명 작성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40680" y="2468880"/>
            <a:ext cx="1234440" cy="18288"/>
          </a:xfrm>
          <a:prstGeom prst="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2651760"/>
            <a:ext cx="1600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F1FD"/>
                </a:solidFill>
                <a:latin typeface="맑은 고딕"/>
              </a:defRPr>
            </a:pPr>
            <a:r>
              <a:t>로그인 불필요</a:t>
            </a:r>
            <a:br/>
            <a:r>
              <a:t>링크 클릭만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59" y="205740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0C0C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1280160"/>
            <a:ext cx="1874519" cy="2194560"/>
          </a:xfrm>
          <a:prstGeom prst="round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1417320"/>
            <a:ext cx="187451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F1FD"/>
                </a:solidFill>
                <a:latin typeface="맑은 고딕"/>
              </a:defRPr>
            </a:pPr>
            <a: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1691640"/>
            <a:ext cx="1874519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관리자</a:t>
            </a:r>
            <a:br/>
            <a:r>
              <a:t>검토 / 승인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2468880"/>
            <a:ext cx="1234440" cy="18288"/>
          </a:xfrm>
          <a:prstGeom prst="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2651760"/>
            <a:ext cx="1600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F1FD"/>
                </a:solidFill>
                <a:latin typeface="맑은 고딕"/>
              </a:defRPr>
            </a:pPr>
            <a:r>
              <a:t>승인 또는 반려</a:t>
            </a:r>
            <a:br/>
            <a:r>
              <a:t>의견 기록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3999" y="205740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0C0C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18320" y="1280160"/>
            <a:ext cx="1874519" cy="21945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0" y="1417320"/>
            <a:ext cx="187451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F1FD"/>
                </a:solidFill>
                <a:latin typeface="맑은 고딕"/>
              </a:defRPr>
            </a:pPr>
            <a:r>
              <a:t>STEP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1691640"/>
            <a:ext cx="1874519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보고서</a:t>
            </a:r>
            <a:br/>
            <a:r>
              <a:t>자동 반영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38360" y="2468880"/>
            <a:ext cx="1234440" cy="18288"/>
          </a:xfrm>
          <a:prstGeom prst="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55480" y="2651760"/>
            <a:ext cx="1600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F1FD"/>
                </a:solidFill>
                <a:latin typeface="맑은 고딕"/>
              </a:defRPr>
            </a:pPr>
            <a:r>
              <a:t>월간점검 포함</a:t>
            </a:r>
            <a:br/>
            <a:r>
              <a:t>감사 증빙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37947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B2A4A"/>
                </a:solidFill>
                <a:latin typeface="맑은 고딕"/>
              </a:defRPr>
            </a:pPr>
            <a:r>
              <a:t>소명 프로세스 핵심 특징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4160520"/>
            <a:ext cx="1463040" cy="347472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197096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완전 자동화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4215384"/>
            <a:ext cx="8686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탐지→통보→소명→승인 전 과정 API 기반 자동 처리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4599432"/>
            <a:ext cx="1463040" cy="347472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636008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SLA 기한 관리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4654296"/>
            <a:ext cx="8686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48시간 미응답 → OVERDUE → 72시간 초과 시 ESCALATED 자동 전환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5038344"/>
            <a:ext cx="1463040" cy="347472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07492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공개 소명 페이지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8880" y="5093208"/>
            <a:ext cx="8686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대상자가 로그인 없이 이메일 링크만으로 소명 제출 (72시간 유효 토큰)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" y="5477256"/>
            <a:ext cx="1463040" cy="347472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5513832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승인/반려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68880" y="5532120"/>
            <a:ext cx="8686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관리자 검토 후 승인(RESOLVED) 또는 반려(RE_JUSTIFY) → 재소명 요청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" y="5916168"/>
            <a:ext cx="1463040" cy="347472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952744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감사 추적 완결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68880" y="5971032"/>
            <a:ext cx="8686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모든 처리 이력 자동 기록 → 월간점검 보고서에 자동 반영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0C0C8"/>
                </a:solidFill>
                <a:latin typeface="맑은 고딕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위변조 방지 + 법규 준수 자동 체크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0C0C8"/>
                </a:solidFill>
                <a:latin typeface="맑은 고딕"/>
              </a:defRPr>
            </a:pPr>
            <a:r>
              <a:t>SHA-256 해시 체인으로 접속기록의 위·변조를 원천 방지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B2A4A"/>
                </a:solidFill>
                <a:latin typeface="맑은 고딕"/>
              </a:defRPr>
            </a:pPr>
            <a:r>
              <a:t>SHA-256 해시 체인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48463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4297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320"/>
              </a:spcBef>
              <a:spcAft>
                <a:spcPts val="320"/>
              </a:spcAft>
              <a:defRPr b="0" sz="1200">
                <a:solidFill>
                  <a:srgbClr val="1B2A4A"/>
                </a:solidFill>
                <a:latin typeface="Consolas"/>
              </a:defRPr>
            </a:pPr>
            <a:r>
              <a:t>레코드 1:  hash( 데이터 + "GENESIS" )</a:t>
            </a:r>
          </a:p>
          <a:p>
            <a:pPr algn="l">
              <a:lnSpc>
                <a:spcPts val="2400"/>
              </a:lnSpc>
              <a:spcBef>
                <a:spcPts val="320"/>
              </a:spcBef>
              <a:spcAft>
                <a:spcPts val="320"/>
              </a:spcAft>
              <a:defRPr b="0" sz="1200">
                <a:solidFill>
                  <a:srgbClr val="1B2A4A"/>
                </a:solidFill>
                <a:latin typeface="Consolas"/>
              </a:defRPr>
            </a:pPr>
            <a:r>
              <a:t>레코드 2:  hash( 데이터 + 레코드1_해시 )</a:t>
            </a:r>
          </a:p>
          <a:p>
            <a:pPr algn="l">
              <a:lnSpc>
                <a:spcPts val="2400"/>
              </a:lnSpc>
              <a:spcBef>
                <a:spcPts val="320"/>
              </a:spcBef>
              <a:spcAft>
                <a:spcPts val="320"/>
              </a:spcAft>
              <a:defRPr b="0" sz="1200">
                <a:solidFill>
                  <a:srgbClr val="1B2A4A"/>
                </a:solidFill>
                <a:latin typeface="Consolas"/>
              </a:defRPr>
            </a:pPr>
            <a:r>
              <a:t>레코드 3:  hash( 데이터 + 레코드2_해시 )</a:t>
            </a:r>
          </a:p>
          <a:p>
            <a:pPr algn="l">
              <a:lnSpc>
                <a:spcPts val="2400"/>
              </a:lnSpc>
              <a:spcBef>
                <a:spcPts val="320"/>
              </a:spcBef>
              <a:spcAft>
                <a:spcPts val="320"/>
              </a:spcAft>
              <a:defRPr b="0" sz="1200">
                <a:solidFill>
                  <a:srgbClr val="707080"/>
                </a:solidFill>
                <a:latin typeface="Consolas"/>
              </a:defRPr>
            </a:pPr>
            <a:r>
              <a:t>     ···</a:t>
            </a:r>
          </a:p>
          <a:p>
            <a:pPr algn="l">
              <a:lnSpc>
                <a:spcPts val="2400"/>
              </a:lnSpc>
              <a:spcBef>
                <a:spcPts val="320"/>
              </a:spcBef>
              <a:spcAft>
                <a:spcPts val="320"/>
              </a:spcAft>
              <a:defRPr b="0" sz="600">
                <a:solidFill>
                  <a:srgbClr val="1A1A2E"/>
                </a:solidFill>
                <a:latin typeface="Consolas"/>
              </a:defRPr>
            </a:pPr>
          </a:p>
          <a:p>
            <a:pPr algn="l">
              <a:lnSpc>
                <a:spcPts val="2400"/>
              </a:lnSpc>
              <a:spcBef>
                <a:spcPts val="320"/>
              </a:spcBef>
              <a:spcAft>
                <a:spcPts val="320"/>
              </a:spcAft>
              <a:defRPr b="1" sz="1200">
                <a:solidFill>
                  <a:srgbClr val="E83E3E"/>
                </a:solidFill>
                <a:latin typeface="Consolas"/>
              </a:defRPr>
            </a:pPr>
            <a:r>
              <a:t>→ 중간 1건 변조 시 이후 모든 해시 불일치</a:t>
            </a:r>
          </a:p>
          <a:p>
            <a:pPr algn="l">
              <a:lnSpc>
                <a:spcPts val="2400"/>
              </a:lnSpc>
              <a:spcBef>
                <a:spcPts val="320"/>
              </a:spcBef>
              <a:spcAft>
                <a:spcPts val="320"/>
              </a:spcAft>
              <a:defRPr b="1" sz="1200">
                <a:solidFill>
                  <a:srgbClr val="E83E3E"/>
                </a:solidFill>
                <a:latin typeface="Consolas"/>
              </a:defRPr>
            </a:pPr>
            <a:r>
              <a:t>→ 위변조 즉시 탐지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389120"/>
            <a:ext cx="4846320" cy="502920"/>
          </a:xfrm>
          <a:prstGeom prst="round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462272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2A4A"/>
                </a:solidFill>
                <a:latin typeface="맑은 고딕"/>
              </a:defRPr>
            </a:pPr>
            <a:r>
              <a:t>매월 자동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48056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안전성확보조치 제8조 — 월 1회 이상 의무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029200"/>
            <a:ext cx="4846320" cy="502920"/>
          </a:xfrm>
          <a:prstGeom prst="round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102352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2A4A"/>
                </a:solidFill>
                <a:latin typeface="맑은 고딕"/>
              </a:defRPr>
            </a:pPr>
            <a:r>
              <a:t>수동 검증 가능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51206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관리자가 언제든 즉시 검증 실행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669280"/>
            <a:ext cx="4846320" cy="502920"/>
          </a:xfrm>
          <a:prstGeom prst="round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42432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2A4A"/>
                </a:solidFill>
                <a:latin typeface="맑은 고딕"/>
              </a:defRPr>
            </a:pPr>
            <a:r>
              <a:t>즉시 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576072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VALID / INVALID 결과 + 최초 변조 레코드 ID 표시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2344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B2A4A"/>
                </a:solidFill>
                <a:latin typeface="맑은 고딕"/>
              </a:defRPr>
            </a:pPr>
            <a:r>
              <a:t>법규 준수 자동 체크리스트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217920" y="1600200"/>
          <a:ext cx="52120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2194560"/>
              </a:tblGrid>
              <a:tr h="37719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법규 조항</a:t>
                      </a:r>
                    </a:p>
                  </a:txBody>
                  <a:tcPr anchor="ctr" marL="91440" marR="91440" marT="36576" marB="36576"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요구사항</a:t>
                      </a:r>
                    </a:p>
                  </a:txBody>
                  <a:tcPr anchor="ctr" marL="91440" marR="91440" marT="36576" marB="36576"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X-Audit 대응</a:t>
                      </a:r>
                    </a:p>
                  </a:txBody>
                  <a:tcPr anchor="ctr" marL="91440" marR="91440" marT="36576" marB="36576">
                    <a:solidFill>
                      <a:srgbClr val="009688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제8조 1항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접속기록 수집/보관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5W1H 자동 수집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제8조 2항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1년+ 보관 (금융 5년)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파티션 자동 관리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제8조 3항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월 1회 이상 점검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자동 검증 + 보고서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제8조 4항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위변조 방지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SHA-256 체인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제5조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비인가 접근 탐지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7가지 탐지 규칙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제29조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안전조치 의무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소명 워크플로우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제14조 (전금)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가동기록 1년+ 보존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자동 아카이브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6217920" y="4846320"/>
            <a:ext cx="521208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9834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Bef>
                <a:spcPts val="320"/>
              </a:spcBef>
              <a:spcAft>
                <a:spcPts val="320"/>
              </a:spcAft>
              <a:defRPr b="1" sz="1400">
                <a:solidFill>
                  <a:srgbClr val="2EA05E"/>
                </a:solidFill>
                <a:latin typeface="맑은 고딕"/>
              </a:defRPr>
            </a:pPr>
            <a:r>
              <a:t>법규 준수 보고서 자동 생성</a:t>
            </a:r>
          </a:p>
          <a:p>
            <a:pPr algn="l">
              <a:lnSpc>
                <a:spcPts val="2080"/>
              </a:lnSpc>
              <a:spcBef>
                <a:spcPts val="320"/>
              </a:spcBef>
              <a:spcAft>
                <a:spcPts val="320"/>
              </a:spcAft>
              <a:defRPr b="0" sz="600">
                <a:solidFill>
                  <a:srgbClr val="1A1A2E"/>
                </a:solidFill>
                <a:latin typeface="맑은 고딕"/>
              </a:defRPr>
            </a:pPr>
          </a:p>
          <a:p>
            <a:pPr algn="l">
              <a:lnSpc>
                <a:spcPts val="2080"/>
              </a:lnSpc>
              <a:spcBef>
                <a:spcPts val="320"/>
              </a:spcBef>
              <a:spcAft>
                <a:spcPts val="320"/>
              </a:spcAft>
              <a:defRPr b="0" sz="1200">
                <a:solidFill>
                  <a:srgbClr val="1A1A2E"/>
                </a:solidFill>
                <a:latin typeface="맑은 고딕"/>
              </a:defRPr>
            </a:pPr>
            <a:r>
              <a:t>개인정보보호법 + 안전성확보조치 + 전자금융감독규정</a:t>
            </a:r>
          </a:p>
          <a:p>
            <a:pPr algn="l">
              <a:lnSpc>
                <a:spcPts val="2080"/>
              </a:lnSpc>
              <a:spcBef>
                <a:spcPts val="320"/>
              </a:spcBef>
              <a:spcAft>
                <a:spcPts val="320"/>
              </a:spcAft>
              <a:defRPr b="0" sz="1200">
                <a:solidFill>
                  <a:srgbClr val="707080"/>
                </a:solidFill>
                <a:latin typeface="맑은 고딕"/>
              </a:defRPr>
            </a:pPr>
            <a:r>
              <a:t>모든 준수 항목 자동 점검 → 감사 시 즉시 제출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0C0C8"/>
                </a:solidFill>
                <a:latin typeface="맑은 고딕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4종 보고서 자동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0C0C8"/>
                </a:solidFill>
                <a:latin typeface="맑은 고딕"/>
              </a:defRPr>
            </a:pPr>
            <a:r>
              <a:t>엑셀(XLSX) 자동 생성 — CPO 보고용 즉시 사용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2468880" cy="3657600"/>
          </a:xfrm>
          <a:prstGeom prst="round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맑은 고딕"/>
              </a:defRPr>
            </a:pPr>
            <a:r>
              <a:t>정기 점검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2468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8F1FD"/>
                </a:solidFill>
                <a:latin typeface="맑은 고딕"/>
              </a:defRPr>
            </a:pPr>
            <a:r>
              <a:t>PERIODIC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2240280"/>
            <a:ext cx="1737360" cy="18288"/>
          </a:xfrm>
          <a:prstGeom prst="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4688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전체 접속 통계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7180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사용자별 접속 현황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47472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야간/휴일 접속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7764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알림 처리 현황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1280160"/>
            <a:ext cx="2468880" cy="3657600"/>
          </a:xfrm>
          <a:prstGeom prst="round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50876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맑은 고딕"/>
              </a:defRPr>
            </a:pPr>
            <a:r>
              <a:t>이상행위 탐지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874520"/>
            <a:ext cx="2468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8F1FD"/>
                </a:solidFill>
                <a:latin typeface="맑은 고딕"/>
              </a:defRPr>
            </a:pPr>
            <a:r>
              <a:t>ANOMALY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2240280"/>
            <a:ext cx="1737360" cy="18288"/>
          </a:xfrm>
          <a:prstGeom prst="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24688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규칙별 알림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97180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일별 추이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47472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심각도 분포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97764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PII 접근 통계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280160"/>
            <a:ext cx="2468880" cy="3657600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50876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맑은 고딕"/>
              </a:defRPr>
            </a:pPr>
            <a:r>
              <a:t>사용자 행동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874520"/>
            <a:ext cx="2468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8F1FD"/>
                </a:solidFill>
                <a:latin typeface="맑은 고딕"/>
              </a:defRPr>
            </a:pPr>
            <a:r>
              <a:t>USER_BEHAVIOR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240280"/>
            <a:ext cx="1737360" cy="18288"/>
          </a:xfrm>
          <a:prstGeom prst="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4688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사용자별/부서별 통계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97180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야간 접속 패턴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47472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PII 접근 현황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97764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접근 패턴 분석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15400" y="1280160"/>
            <a:ext cx="2468880" cy="36576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5400" y="150876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맑은 고딕"/>
              </a:defRPr>
            </a:pPr>
            <a:r>
              <a:t>법규 준수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1874520"/>
            <a:ext cx="2468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8F1FD"/>
                </a:solidFill>
                <a:latin typeface="맑은 고딕"/>
              </a:defRPr>
            </a:pPr>
            <a:r>
              <a:t>COMPLIANCE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81160" y="2240280"/>
            <a:ext cx="1737360" cy="18288"/>
          </a:xfrm>
          <a:prstGeom prst="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24688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보관기간 준수 현황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297180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해시 검증 결과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347472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규칙 활성 현황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397764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법규 체크리스트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5212080"/>
            <a:ext cx="10545775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5349240"/>
            <a:ext cx="9997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Bef>
                <a:spcPts val="320"/>
              </a:spcBef>
              <a:spcAft>
                <a:spcPts val="320"/>
              </a:spcAft>
              <a:defRPr b="1" sz="1400">
                <a:solidFill>
                  <a:srgbClr val="1B2A4A"/>
                </a:solidFill>
                <a:latin typeface="맑은 고딕"/>
              </a:defRPr>
            </a:pPr>
            <a:r>
              <a:t>표지 + 데이터 시트 + 컴플라이언스 체크리스트 포함</a:t>
            </a:r>
          </a:p>
          <a:p>
            <a:pPr algn="l">
              <a:lnSpc>
                <a:spcPts val="2240"/>
              </a:lnSpc>
              <a:spcBef>
                <a:spcPts val="320"/>
              </a:spcBef>
              <a:spcAft>
                <a:spcPts val="320"/>
              </a:spcAft>
              <a:defRPr b="0" sz="1200">
                <a:solidFill>
                  <a:srgbClr val="707080"/>
                </a:solidFill>
                <a:latin typeface="맑은 고딕"/>
              </a:defRPr>
            </a:pPr>
            <a:r>
              <a:t>다운로드 시 감사 추적 자동 기록 (누가/언제/몇 건/어떤 사유로)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0C0C8"/>
                </a:solidFill>
                <a:latin typeface="맑은 고딕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All-in-One vs 개별 도입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0C0C8"/>
                </a:solidFill>
                <a:latin typeface="맑은 고딕"/>
              </a:defRPr>
            </a:pPr>
            <a:r>
              <a:t>9개 비교 영역 모두에서 개별 솔루션 대비 우위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280160"/>
          <a:ext cx="1054577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97680"/>
                <a:gridCol w="4236415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비교 항목</a:t>
                      </a:r>
                    </a:p>
                  </a:txBody>
                  <a:tcPr anchor="ctr" marL="91440" marR="91440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X-One (All-in-One)</a:t>
                      </a:r>
                    </a:p>
                  </a:txBody>
                  <a:tcPr anchor="ctr" marL="91440" marR="91440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개별 솔루션</a:t>
                      </a:r>
                    </a:p>
                  </a:txBody>
                  <a:tcPr anchor="ctr" marL="91440" marR="91440" marT="36576" marB="36576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PII 메타데이터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1회 스캔 → 전 모듈 공유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솔루션마다 개별 등록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인프라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단일 서버 / 단일 DB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솔루션별 별도 (3~4배)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운영 관리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통합 관리 콘솔 1개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솔루션별 별도 화면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파기 자동화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No-Code Wizard 전자동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반자동, SQL 직접 구성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접속기록 수집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DB Audit + WAS + Agent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DB Audit만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이상행위+소명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7규칙 탐지 + 소명 자동화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기본 규칙, 소명 미지원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위변조 방지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SHA-256 해시 체인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미지원 또는 제한적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감사 보고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통합 대시보드 + 4종 보고서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영역별 수동 취합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감사 대응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"X-One" 1건으로 전 영역 증빙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영역별 개별 제출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5669280"/>
            <a:ext cx="10545775" cy="822960"/>
          </a:xfrm>
          <a:prstGeom prst="round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97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Bef>
                <a:spcPts val="320"/>
              </a:spcBef>
              <a:spcAft>
                <a:spcPts val="320"/>
              </a:spcAft>
              <a:defRPr b="1" sz="1500">
                <a:solidFill>
                  <a:srgbClr val="2D7DF6"/>
                </a:solidFill>
                <a:latin typeface="맑은 고딕"/>
              </a:defRPr>
            </a:pPr>
            <a:r>
              <a:t>핵심: PII 메타데이터 공유가 All-in-One의 근본 경쟁력</a:t>
            </a:r>
          </a:p>
          <a:p>
            <a:pPr algn="l">
              <a:lnSpc>
                <a:spcPts val="2240"/>
              </a:lnSpc>
              <a:spcBef>
                <a:spcPts val="320"/>
              </a:spcBef>
              <a:spcAft>
                <a:spcPts val="320"/>
              </a:spcAft>
              <a:defRPr b="0" sz="1200">
                <a:solidFill>
                  <a:srgbClr val="1A1A2E"/>
                </a:solidFill>
                <a:latin typeface="맑은 고딕"/>
              </a:defRPr>
            </a:pPr>
            <a:r>
              <a:t>X-Scan이 발견한 PII가 파기/감시/마스킹에 즉시 활용 — 개별 솔루션으로는 절대 불가능한 가치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0C0C8"/>
                </a:solidFill>
                <a:latin typeface="맑은 고딕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도입 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0C0C8"/>
                </a:solidFill>
                <a:latin typeface="맑은 고딕"/>
              </a:defRPr>
            </a:pPr>
            <a:r>
              <a:t>운영 공수 93% 절감, 파기 완전성 100%, 접근이력 사각지대 ZERO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246888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2D7DF6"/>
                </a:solidFill>
                <a:latin typeface="맑은 고딕"/>
              </a:defRPr>
            </a:pPr>
            <a:r>
              <a:t>93%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B2A4A"/>
                </a:solidFill>
                <a:latin typeface="맑은 고딕"/>
              </a:defRPr>
            </a:pPr>
            <a:r>
              <a:t>운영 공수</a:t>
            </a:r>
            <a:br/>
            <a:r>
              <a:t>절감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2926080"/>
            <a:ext cx="1554480" cy="18288"/>
          </a:xfrm>
          <a:prstGeom prst="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19202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07080"/>
                </a:solidFill>
                <a:latin typeface="맑은 고딕"/>
              </a:defRPr>
            </a:pPr>
            <a:r>
              <a:t>파기: 월 40h → 3.5h</a:t>
            </a:r>
            <a:br/>
            <a:r>
              <a:t>접근이력: 수작업 → 4.5h/월</a:t>
            </a:r>
            <a:br/>
            <a:r>
              <a:t>담당자 하루 20분 미만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280160"/>
            <a:ext cx="246888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508760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2EA05E"/>
                </a:solidFill>
                <a:latin typeface="맑은 고딕"/>
              </a:defRPr>
            </a:pPr>
            <a:r>
              <a:t>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8600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B2A4A"/>
                </a:solidFill>
                <a:latin typeface="맑은 고딕"/>
              </a:defRPr>
            </a:pPr>
            <a:r>
              <a:t>점검 시간</a:t>
            </a:r>
            <a:br/>
            <a:r>
              <a:t>단축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7640" y="2926080"/>
            <a:ext cx="1554480" cy="18288"/>
          </a:xfrm>
          <a:prstGeom prst="rect">
            <a:avLst/>
          </a:prstGeom>
          <a:solidFill>
            <a:srgbClr val="2EA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3108960"/>
            <a:ext cx="19202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07080"/>
                </a:solidFill>
                <a:latin typeface="맑은 고딕"/>
              </a:defRPr>
            </a:pPr>
            <a:r>
              <a:t>감사 리포트 자동 생성</a:t>
            </a:r>
            <a:br/>
            <a:r>
              <a:t>월간점검 보고서 자동</a:t>
            </a:r>
            <a:br/>
            <a:r>
              <a:t>CPO 대시보드 즉시 보고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280160"/>
            <a:ext cx="246888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508760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08C2E"/>
                </a:solidFill>
                <a:latin typeface="맑은 고딕"/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28600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B2A4A"/>
                </a:solidFill>
                <a:latin typeface="맑은 고딕"/>
              </a:defRPr>
            </a:pPr>
            <a:r>
              <a:t>파기</a:t>
            </a:r>
            <a:br/>
            <a:r>
              <a:t>완전성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2926080"/>
            <a:ext cx="1554480" cy="18288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108960"/>
            <a:ext cx="19202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07080"/>
                </a:solidFill>
                <a:latin typeface="맑은 고딕"/>
              </a:defRPr>
            </a:pPr>
            <a:r>
              <a:t>KeyMap 연관 추적</a:t>
            </a:r>
            <a:br/>
            <a:r>
              <a:t>물리삭제 + 분리보관</a:t>
            </a:r>
            <a:br/>
            <a:r>
              <a:t>복원/열람 지원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1280160"/>
            <a:ext cx="246888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1508760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09688"/>
                </a:solidFill>
                <a:latin typeface="맑은 고딕"/>
              </a:defRPr>
            </a:pPr>
            <a:r>
              <a:t>ZERO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28600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B2A4A"/>
                </a:solidFill>
                <a:latin typeface="맑은 고딕"/>
              </a:defRPr>
            </a:pPr>
            <a:r>
              <a:t>접근이력</a:t>
            </a:r>
            <a:br/>
            <a:r>
              <a:t>사각지대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926080"/>
            <a:ext cx="1554480" cy="1828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3108960"/>
            <a:ext cx="19202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07080"/>
                </a:solidFill>
                <a:latin typeface="맑은 고딕"/>
              </a:defRPr>
            </a:pPr>
            <a:r>
              <a:t>5W1H 전수 수집</a:t>
            </a:r>
            <a:br/>
            <a:r>
              <a:t>이상행위 실시간 탐지</a:t>
            </a:r>
            <a:br/>
            <a:r>
              <a:t>소명 체계 완결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846320"/>
            <a:ext cx="10545775" cy="1280160"/>
          </a:xfrm>
          <a:prstGeom prst="round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983480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Bef>
                <a:spcPts val="320"/>
              </a:spcBef>
              <a:spcAft>
                <a:spcPts val="320"/>
              </a:spcAft>
              <a:defRPr b="1" sz="1600">
                <a:solidFill>
                  <a:srgbClr val="2D7DF6"/>
                </a:solidFill>
                <a:latin typeface="맑은 고딕"/>
              </a:defRPr>
            </a:pPr>
            <a:r>
              <a:t>추가 가치: 이중 과징금 감경 수단</a:t>
            </a:r>
          </a:p>
          <a:p>
            <a:pPr algn="l">
              <a:lnSpc>
                <a:spcPts val="2080"/>
              </a:lnSpc>
              <a:spcBef>
                <a:spcPts val="320"/>
              </a:spcBef>
              <a:spcAft>
                <a:spcPts val="320"/>
              </a:spcAft>
              <a:defRPr b="0" sz="600">
                <a:solidFill>
                  <a:srgbClr val="1A1A2E"/>
                </a:solidFill>
                <a:latin typeface="맑은 고딕"/>
              </a:defRPr>
            </a:pPr>
          </a:p>
          <a:p>
            <a:pPr algn="l">
              <a:lnSpc>
                <a:spcPts val="2080"/>
              </a:lnSpc>
              <a:spcBef>
                <a:spcPts val="320"/>
              </a:spcBef>
              <a:spcAft>
                <a:spcPts val="320"/>
              </a:spcAft>
              <a:defRPr b="0" sz="1300">
                <a:solidFill>
                  <a:srgbClr val="1A1A2E"/>
                </a:solidFill>
                <a:latin typeface="맑은 고딕"/>
              </a:defRPr>
            </a:pPr>
            <a:r>
              <a:t>개정법은 파기 솔루션 + 접속기록 관리 솔루션 투자를 모두 감경 사유로 인정합니다.</a:t>
            </a:r>
          </a:p>
          <a:p>
            <a:pPr algn="l">
              <a:lnSpc>
                <a:spcPts val="2080"/>
              </a:lnSpc>
              <a:spcBef>
                <a:spcPts val="320"/>
              </a:spcBef>
              <a:spcAft>
                <a:spcPts val="320"/>
              </a:spcAft>
              <a:defRPr b="1" sz="1300">
                <a:solidFill>
                  <a:srgbClr val="E83E3E"/>
                </a:solidFill>
                <a:latin typeface="맑은 고딕"/>
              </a:defRPr>
            </a:pPr>
            <a:r>
              <a:t>X-One 하나의 도입으로 4개 영역의 투자 증빙을 한꺼번에 확보합니다.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0C0C8"/>
                </a:solidFill>
                <a:latin typeface="맑은 고딕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JB우리캐피탈 도입 로드맵 — 약 6주 완성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0C0C8"/>
                </a:solidFill>
                <a:latin typeface="맑은 고딕"/>
              </a:defRPr>
            </a:pPr>
            <a:r>
              <a:t>X-Gen 기 도입 자산 활용 → 일반 대비 60% 기간 단축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1874519" cy="2377440"/>
          </a:xfrm>
          <a:prstGeom prst="roundRect">
            <a:avLst/>
          </a:prstGeom>
          <a:solidFill>
            <a:srgbClr val="2EA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89888"/>
            <a:ext cx="187451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F1FD"/>
                </a:solidFill>
                <a:latin typeface="맑은 고딕"/>
              </a:defRPr>
            </a:pPr>
            <a:r>
              <a:t>2025 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874519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X-Gen</a:t>
            </a:r>
            <a:br/>
            <a:r>
              <a:t>도입 완료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423160"/>
            <a:ext cx="1325880" cy="18288"/>
          </a:xfrm>
          <a:prstGeom prst="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560320"/>
            <a:ext cx="1600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8F1FD"/>
                </a:solidFill>
                <a:latin typeface="맑은 고딕"/>
              </a:defRPr>
            </a:pPr>
            <a:r>
              <a:t>연관관계 구축</a:t>
            </a:r>
            <a:br/>
            <a:r>
              <a:t>KeyMap 확보</a:t>
            </a:r>
            <a:br/>
            <a:r>
              <a:t>DB 환경 완료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2103120"/>
            <a:ext cx="274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0C0C8"/>
                </a:solidFill>
                <a:latin typeface="맑은 고딕"/>
              </a:defRPr>
            </a:pPr>
            <a: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1280160"/>
            <a:ext cx="1874519" cy="2377440"/>
          </a:xfrm>
          <a:prstGeom prst="round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1389888"/>
            <a:ext cx="187451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F1FD"/>
                </a:solidFill>
                <a:latin typeface="맑은 고딕"/>
              </a:defRPr>
            </a:pPr>
            <a:r>
              <a:t>Week 1-2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1691640"/>
            <a:ext cx="1874519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X-Scan</a:t>
            </a:r>
            <a:br/>
            <a:r>
              <a:t>+ X-Purge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2423160"/>
            <a:ext cx="1325880" cy="18288"/>
          </a:xfrm>
          <a:prstGeom prst="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2560320"/>
            <a:ext cx="1600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8F1FD"/>
                </a:solidFill>
                <a:latin typeface="맑은 고딕"/>
              </a:defRPr>
            </a:pPr>
            <a:r>
              <a:t>KeyMap 연동</a:t>
            </a:r>
            <a:br/>
            <a:r>
              <a:t>PII 스캔/확정</a:t>
            </a:r>
            <a:br/>
            <a:r>
              <a:t>Purge Job 구성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19" y="2103120"/>
            <a:ext cx="274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0C0C8"/>
                </a:solidFill>
                <a:latin typeface="맑은 고딕"/>
              </a:defRPr>
            </a:pPr>
            <a: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1280160"/>
            <a:ext cx="1874519" cy="23774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1389888"/>
            <a:ext cx="187451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F1FD"/>
                </a:solidFill>
                <a:latin typeface="맑은 고딕"/>
              </a:defRPr>
            </a:pPr>
            <a:r>
              <a:t>Week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1691640"/>
            <a:ext cx="1874519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X-Audit</a:t>
            </a:r>
            <a:br/>
            <a:r>
              <a:t>구축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2423160"/>
            <a:ext cx="1325880" cy="18288"/>
          </a:xfrm>
          <a:prstGeom prst="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2560320"/>
            <a:ext cx="1600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8F1FD"/>
                </a:solidFill>
                <a:latin typeface="맑은 고딕"/>
              </a:defRPr>
            </a:pPr>
            <a:r>
              <a:t>수집 대상 등록</a:t>
            </a:r>
            <a:br/>
            <a:r>
              <a:t>DB Audit 연동</a:t>
            </a:r>
            <a:br/>
            <a:r>
              <a:t>탐지 규칙 설정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59" y="2103120"/>
            <a:ext cx="274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0C0C8"/>
                </a:solidFill>
                <a:latin typeface="맑은 고딕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1280160"/>
            <a:ext cx="1874519" cy="2377440"/>
          </a:xfrm>
          <a:prstGeom prst="round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1389888"/>
            <a:ext cx="187451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F1FD"/>
                </a:solidFill>
                <a:latin typeface="맑은 고딕"/>
              </a:defRPr>
            </a:pPr>
            <a:r>
              <a:t>Week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1691640"/>
            <a:ext cx="1874519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통합</a:t>
            </a:r>
            <a:br/>
            <a:r>
              <a:t>테스트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43800" y="2423160"/>
            <a:ext cx="1325880" cy="18288"/>
          </a:xfrm>
          <a:prstGeom prst="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2560320"/>
            <a:ext cx="1600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8F1FD"/>
                </a:solidFill>
                <a:latin typeface="맑은 고딕"/>
              </a:defRPr>
            </a:pPr>
            <a:r>
              <a:t>파기/이력 검증</a:t>
            </a:r>
            <a:br/>
            <a:r>
              <a:t>이상행위 탐지</a:t>
            </a:r>
            <a:br/>
            <a:r>
              <a:t>소명 프로세스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3999" y="2103120"/>
            <a:ext cx="274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0C0C8"/>
                </a:solidFill>
                <a:latin typeface="맑은 고딕"/>
              </a:defRPr>
            </a:pPr>
            <a: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18320" y="1280160"/>
            <a:ext cx="1874519" cy="23774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0" y="1389888"/>
            <a:ext cx="187451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F1FD"/>
                </a:solidFill>
                <a:latin typeface="맑은 고딕"/>
              </a:defRPr>
            </a:pPr>
            <a:r>
              <a:t>Week 5-6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1691640"/>
            <a:ext cx="1874519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운영</a:t>
            </a:r>
            <a:br/>
            <a:r>
              <a:t>전환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40" y="2423160"/>
            <a:ext cx="1325880" cy="18288"/>
          </a:xfrm>
          <a:prstGeom prst="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55480" y="2560320"/>
            <a:ext cx="1600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8F1FD"/>
                </a:solidFill>
                <a:latin typeface="맑은 고딕"/>
              </a:defRPr>
            </a:pPr>
            <a:r>
              <a:t>스케줄/대시보드</a:t>
            </a:r>
            <a:br/>
            <a:r>
              <a:t>담당자 교육</a:t>
            </a:r>
            <a:br/>
            <a:r>
              <a:t>거버넌스 완성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39319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B2A4A"/>
                </a:solidFill>
                <a:latin typeface="맑은 고딕"/>
              </a:defRPr>
            </a:pPr>
            <a:r>
              <a:t>X-Gen 기 도입으로 확보된 자산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822960" y="4251960"/>
          <a:ext cx="10545775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3687775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 anchor="ctr" marL="91440" marR="91440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일반 도입</a:t>
                      </a:r>
                    </a:p>
                  </a:txBody>
                  <a:tcPr anchor="ctr" marL="91440" marR="91440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JB우리캐피탈</a:t>
                      </a:r>
                    </a:p>
                  </a:txBody>
                  <a:tcPr anchor="ctr" marL="91440" marR="91440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효과</a:t>
                      </a:r>
                    </a:p>
                  </a:txBody>
                  <a:tcPr anchor="ctr" marL="91440" marR="91440" marT="36576" marB="36576">
                    <a:solidFill>
                      <a:srgbClr val="1B2A4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연관관계 분석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2~4주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불필요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X-Gen KeyMap 재활용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DB 접속 환경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1~2주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불필요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기존 환경 활용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PII 메타 구성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2~3주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3~4일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X-Scan 자동 스캔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접근이력 설정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2~3주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1~2주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DB 환경 활용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총 도입 기간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4~8개월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약 6주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60% 이상 단축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0C0C8"/>
                </a:solidFill>
                <a:latin typeface="맑은 고딕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도입 레퍼런스 — 금융권 검증 완료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0C0C8"/>
                </a:solidFill>
                <a:latin typeface="맑은 고딕"/>
              </a:defRPr>
            </a:pPr>
            <a:r>
              <a:t>금융권 4개사 도입/확정으로 엔터프라이즈 검증을 완료했습니다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280160"/>
          <a:ext cx="9144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54864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고객사</a:t>
                      </a:r>
                    </a:p>
                  </a:txBody>
                  <a:tcPr anchor="ctr" marL="91440" marR="91440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상태</a:t>
                      </a:r>
                    </a:p>
                  </a:txBody>
                  <a:tcPr anchor="ctr" marL="91440" marR="91440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도입 내용</a:t>
                      </a:r>
                    </a:p>
                  </a:txBody>
                  <a:tcPr anchor="ctr" marL="91440" marR="91440" marT="36576" marB="36576"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하나카드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도입 완료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카드사 개인정보 파기 전사 자동화 체계 구축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iM캐피탈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도입 완료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캐피탈 특화 파기 프로세스, 연관 테이블 완전 파기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수협은행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26년 도입 확정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은행권 대규모 파기, 이기종 DB 통합 관리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NH농협캐피탈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26년 도입 확정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개인정보파기 + 테스트데이터 자동생성 통합 구축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3657600"/>
            <a:ext cx="10545775" cy="1645920"/>
          </a:xfrm>
          <a:prstGeom prst="round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840480"/>
            <a:ext cx="98142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320"/>
              </a:spcBef>
              <a:spcAft>
                <a:spcPts val="320"/>
              </a:spcAft>
              <a:defRPr b="1" sz="2200">
                <a:solidFill>
                  <a:srgbClr val="1B2A4A"/>
                </a:solidFill>
                <a:latin typeface="맑은 고딕"/>
              </a:defRPr>
            </a:pPr>
            <a:r>
              <a:t>JB우리캐피탈</a:t>
            </a:r>
          </a:p>
          <a:p>
            <a:pPr algn="l">
              <a:lnSpc>
                <a:spcPts val="2400"/>
              </a:lnSpc>
              <a:spcBef>
                <a:spcPts val="320"/>
              </a:spcBef>
              <a:spcAft>
                <a:spcPts val="320"/>
              </a:spcAft>
              <a:defRPr b="0" sz="800">
                <a:solidFill>
                  <a:srgbClr val="1A1A2E"/>
                </a:solidFill>
                <a:latin typeface="맑은 고딕"/>
              </a:defRPr>
            </a:pPr>
          </a:p>
          <a:p>
            <a:pPr algn="l">
              <a:lnSpc>
                <a:spcPts val="2400"/>
              </a:lnSpc>
              <a:spcBef>
                <a:spcPts val="320"/>
              </a:spcBef>
              <a:spcAft>
                <a:spcPts val="320"/>
              </a:spcAft>
              <a:defRPr b="0" sz="1400">
                <a:solidFill>
                  <a:srgbClr val="1A1A2E"/>
                </a:solidFill>
                <a:latin typeface="맑은 고딕"/>
              </a:defRPr>
            </a:pPr>
            <a:r>
              <a:t>X-Gen 이미 도입 완료 — 연관관계(KeyMap) + DB 환경이 확보된 상태에서</a:t>
            </a:r>
          </a:p>
          <a:p>
            <a:pPr algn="l">
              <a:lnSpc>
                <a:spcPts val="2400"/>
              </a:lnSpc>
              <a:spcBef>
                <a:spcPts val="320"/>
              </a:spcBef>
              <a:spcAft>
                <a:spcPts val="320"/>
              </a:spcAft>
              <a:defRPr b="1" sz="1400">
                <a:solidFill>
                  <a:srgbClr val="1B2A4A"/>
                </a:solidFill>
                <a:latin typeface="맑은 고딕"/>
              </a:defRPr>
            </a:pPr>
            <a:r>
              <a:t>X-Purge + X-Audit 추가 도입 시 최소 비용 / 최단 기간으로 전사 거버넌스 완성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235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B2A4A"/>
                </a:solidFill>
                <a:latin typeface="맑은 고딕"/>
              </a:defRPr>
            </a:pPr>
            <a:r>
              <a:t>제품 신뢰성: GS인증 추진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07080"/>
                </a:solidFill>
                <a:latin typeface="맑은 고딕"/>
              </a:defRPr>
            </a:pPr>
            <a:r>
              <a:t>X-Purge GS인증 추진 중  |  X-Gen GS인증 추진 중  |  X-Audit GS인증 추진 예정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0C0C8"/>
                </a:solidFill>
                <a:latin typeface="맑은 고딕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라이브 데모 — 검증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0C0C8"/>
                </a:solidFill>
                <a:latin typeface="맑은 고딕"/>
              </a:defRPr>
            </a:pPr>
            <a:r>
              <a:t>51개 테스트 항목 ALL PASS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23444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기능 영역</a:t>
                      </a:r>
                    </a:p>
                  </a:txBody>
                  <a:tcPr anchor="ctr" marL="91440" marR="91440" marT="36576" marB="36576"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상태</a:t>
                      </a:r>
                    </a:p>
                  </a:txBody>
                  <a:tcPr anchor="ctr" marL="91440" marR="91440" marT="36576" marB="36576"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데이터</a:t>
                      </a:r>
                    </a:p>
                  </a:txBody>
                  <a:tcPr anchor="ctr" marL="91440" marR="91440" marT="36576" marB="36576">
                    <a:solidFill>
                      <a:srgbClr val="00968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접속기록 수집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정상 가동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56건 (Oracle DB_AUDIT)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이상행위 탐지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정상 가동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292건 알림 자동 발생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소명 워크플로우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전체 검증 완료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통보 → 소명 → 승인/반려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해시 무결성 검증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VALID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55건 전체 유효, 위변조 0건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보고서 생성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4종 완료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엑셀 다운로드 확인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탐지 규칙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8개 활성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CRUD 검증 완료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예외 규칙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5개 활성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등록/검토/비활성화 검증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엑셀 다운로드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감사 추적 확인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사유/건수/시간 자동 기록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Agent API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정상 동작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로그수신 / 하트비트 / 정책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0" y="1234440"/>
            <a:ext cx="36576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4173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Bef>
                <a:spcPts val="320"/>
              </a:spcBef>
              <a:spcAft>
                <a:spcPts val="320"/>
              </a:spcAft>
              <a:defRPr b="1" sz="1600">
                <a:solidFill>
                  <a:srgbClr val="2EA05E"/>
                </a:solidFill>
                <a:latin typeface="맑은 고딕"/>
              </a:defRPr>
            </a:pPr>
            <a:r>
              <a:t>테스트 결과</a:t>
            </a:r>
          </a:p>
          <a:p>
            <a:pPr algn="ctr">
              <a:lnSpc>
                <a:spcPts val="2080"/>
              </a:lnSpc>
              <a:spcBef>
                <a:spcPts val="320"/>
              </a:spcBef>
              <a:spcAft>
                <a:spcPts val="320"/>
              </a:spcAft>
              <a:defRPr b="0" sz="800">
                <a:solidFill>
                  <a:srgbClr val="1A1A2E"/>
                </a:solidFill>
                <a:latin typeface="맑은 고딕"/>
              </a:defRPr>
            </a:pPr>
          </a:p>
          <a:p>
            <a:pPr algn="ctr">
              <a:lnSpc>
                <a:spcPts val="2080"/>
              </a:lnSpc>
              <a:spcBef>
                <a:spcPts val="320"/>
              </a:spcBef>
              <a:spcAft>
                <a:spcPts val="320"/>
              </a:spcAft>
              <a:defRPr b="1" sz="3400">
                <a:solidFill>
                  <a:srgbClr val="2EA05E"/>
                </a:solidFill>
                <a:latin typeface="맑은 고딕"/>
              </a:defRPr>
            </a:pPr>
            <a:r>
              <a:t>51개 항목</a:t>
            </a:r>
          </a:p>
          <a:p>
            <a:pPr algn="ctr">
              <a:lnSpc>
                <a:spcPts val="2080"/>
              </a:lnSpc>
              <a:spcBef>
                <a:spcPts val="320"/>
              </a:spcBef>
              <a:spcAft>
                <a:spcPts val="320"/>
              </a:spcAft>
              <a:defRPr b="1" sz="2600">
                <a:solidFill>
                  <a:srgbClr val="2EA05E"/>
                </a:solidFill>
                <a:latin typeface="맑은 고딕"/>
              </a:defRPr>
            </a:pPr>
            <a:r>
              <a:t>ALL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3375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B2A4A"/>
                </a:solidFill>
                <a:latin typeface="맑은 고딕"/>
              </a:defRPr>
            </a:pPr>
            <a:r>
              <a:t>시연 순서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65760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320"/>
              </a:spcBef>
              <a:spcAft>
                <a:spcPts val="320"/>
              </a:spcAft>
              <a:defRPr b="0" sz="1200">
                <a:solidFill>
                  <a:srgbClr val="1A1A2E"/>
                </a:solidFill>
                <a:latin typeface="맑은 고딕"/>
              </a:defRPr>
            </a:pPr>
            <a:r>
              <a:t>1. 대시보드 (컴플라이언스 현황)</a:t>
            </a:r>
          </a:p>
          <a:p>
            <a:pPr algn="l">
              <a:lnSpc>
                <a:spcPts val="2400"/>
              </a:lnSpc>
              <a:spcBef>
                <a:spcPts val="320"/>
              </a:spcBef>
              <a:spcAft>
                <a:spcPts val="320"/>
              </a:spcAft>
              <a:defRPr b="0" sz="1200">
                <a:solidFill>
                  <a:srgbClr val="1A1A2E"/>
                </a:solidFill>
                <a:latin typeface="맑은 고딕"/>
              </a:defRPr>
            </a:pPr>
            <a:r>
              <a:t>2. 접속기록 조회 (필터/검색)</a:t>
            </a:r>
          </a:p>
          <a:p>
            <a:pPr algn="l">
              <a:lnSpc>
                <a:spcPts val="2400"/>
              </a:lnSpc>
              <a:spcBef>
                <a:spcPts val="320"/>
              </a:spcBef>
              <a:spcAft>
                <a:spcPts val="320"/>
              </a:spcAft>
              <a:defRPr b="0" sz="1200">
                <a:solidFill>
                  <a:srgbClr val="1A1A2E"/>
                </a:solidFill>
                <a:latin typeface="맑은 고딕"/>
              </a:defRPr>
            </a:pPr>
            <a:r>
              <a:t>3. 이상행위 알림 (심각도/상태)</a:t>
            </a:r>
          </a:p>
          <a:p>
            <a:pPr algn="l">
              <a:lnSpc>
                <a:spcPts val="2400"/>
              </a:lnSpc>
              <a:spcBef>
                <a:spcPts val="320"/>
              </a:spcBef>
              <a:spcAft>
                <a:spcPts val="320"/>
              </a:spcAft>
              <a:defRPr b="0" sz="1200">
                <a:solidFill>
                  <a:srgbClr val="1A1A2E"/>
                </a:solidFill>
                <a:latin typeface="맑은 고딕"/>
              </a:defRPr>
            </a:pPr>
            <a:r>
              <a:t>4. 소명 워크플로우 (전체 플로우)</a:t>
            </a:r>
          </a:p>
          <a:p>
            <a:pPr algn="l">
              <a:lnSpc>
                <a:spcPts val="2400"/>
              </a:lnSpc>
              <a:spcBef>
                <a:spcPts val="320"/>
              </a:spcBef>
              <a:spcAft>
                <a:spcPts val="320"/>
              </a:spcAft>
              <a:defRPr b="0" sz="1200">
                <a:solidFill>
                  <a:srgbClr val="1A1A2E"/>
                </a:solidFill>
                <a:latin typeface="맑은 고딕"/>
              </a:defRPr>
            </a:pPr>
            <a:r>
              <a:t>5. 해시 무결성 검증 (SHA-256)</a:t>
            </a:r>
          </a:p>
          <a:p>
            <a:pPr algn="l">
              <a:lnSpc>
                <a:spcPts val="2400"/>
              </a:lnSpc>
              <a:spcBef>
                <a:spcPts val="320"/>
              </a:spcBef>
              <a:spcAft>
                <a:spcPts val="320"/>
              </a:spcAft>
              <a:defRPr b="0" sz="1200">
                <a:solidFill>
                  <a:srgbClr val="1A1A2E"/>
                </a:solidFill>
                <a:latin typeface="맑은 고딕"/>
              </a:defRPr>
            </a:pPr>
            <a:r>
              <a:t>6. 보고서 생성 / 다운로드</a:t>
            </a:r>
          </a:p>
          <a:p>
            <a:pPr algn="l">
              <a:lnSpc>
                <a:spcPts val="2400"/>
              </a:lnSpc>
              <a:spcBef>
                <a:spcPts val="320"/>
              </a:spcBef>
              <a:spcAft>
                <a:spcPts val="320"/>
              </a:spcAft>
              <a:defRPr b="0" sz="1200">
                <a:solidFill>
                  <a:srgbClr val="1A1A2E"/>
                </a:solidFill>
                <a:latin typeface="맑은 고딕"/>
              </a:defRPr>
            </a:pPr>
            <a:r>
              <a:t>7. 감사 정책 스크립트 생성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0C0C8"/>
                </a:solidFill>
                <a:latin typeface="맑은 고딕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월간 운영 업무량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0C0C8"/>
                </a:solidFill>
                <a:latin typeface="맑은 고딕"/>
              </a:defRPr>
            </a:pPr>
            <a:r>
              <a:t>초기 설정 후 담당자 1인 기준 하루 20분 이하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234440"/>
          <a:ext cx="1054577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572000"/>
                <a:gridCol w="2286000"/>
                <a:gridCol w="2316175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모듈</a:t>
                      </a:r>
                    </a:p>
                  </a:txBody>
                  <a:tcPr anchor="ctr" marL="91440" marR="91440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업무 항목</a:t>
                      </a:r>
                    </a:p>
                  </a:txBody>
                  <a:tcPr anchor="ctr" marL="91440" marR="91440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담당자</a:t>
                      </a:r>
                    </a:p>
                  </a:txBody>
                  <a:tcPr anchor="ctr" marL="91440" marR="91440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시간</a:t>
                      </a:r>
                    </a:p>
                  </a:txBody>
                  <a:tcPr anchor="ctr" marL="91440" marR="91440" marT="36576" marB="36576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X-Scan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신규 테이블/컬럼 PII 확인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정보보호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1.5h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X-Scan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PII 메타 확정 (항목 지정)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IT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1.0h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X-Purge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신규 테이블 Job/Step 추가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IT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1.0h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X-Purge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월간 파기 실행 모니터링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IT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1.0h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X-Purge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오류 발생 시 확인/재실행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IT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0.5h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X-Audit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이상행위 알림 확인 &amp; 소명 검토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정보보호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2.0h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X-Audit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월간 접속기록 점검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정보보호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1.0h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X-Audit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수집 상태 모니터링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IT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0.5h</a:t>
                      </a:r>
                    </a:p>
                  </a:txBody>
                  <a:tcPr anchor="ctr" marL="91440" marR="91440" marT="36576" marB="36576">
                    <a:solidFill>
                      <a:srgbClr val="F0F0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X-Audit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월간점검 보고서 확인/제출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정보보호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0.5h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5303520"/>
            <a:ext cx="10545775" cy="7315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349240"/>
            <a:ext cx="10545775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전체 월간 운영: 정보보호 5.5h + IT 4.0h = 총 9.5시간  |  담당자 1인 하루 약 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0C0C8"/>
                </a:solidFill>
                <a:latin typeface="맑은 고딕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X-One 거버넌스 완성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0C0C8"/>
                </a:solidFill>
                <a:latin typeface="맑은 고딕"/>
              </a:defRPr>
            </a:pPr>
            <a:r>
              <a:t>X-Gen(완료) → X-Purge + X-Audit(이번) → 전사 거버넌스 완성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3291840" cy="3200400"/>
          </a:xfrm>
          <a:prstGeom prst="roundRect">
            <a:avLst/>
          </a:prstGeom>
          <a:solidFill>
            <a:srgbClr val="2EA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2918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8F1FD"/>
                </a:solidFill>
                <a:latin typeface="맑은 고딕"/>
              </a:defRPr>
            </a:pPr>
            <a:r>
              <a:t>2025 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3291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X-Gen</a:t>
            </a:r>
            <a:br/>
            <a:r>
              <a:t>도입 완료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834640"/>
            <a:ext cx="2194560" cy="18288"/>
          </a:xfrm>
          <a:prstGeom prst="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27432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F1FD"/>
                </a:solidFill>
                <a:latin typeface="맑은 고딕"/>
              </a:defRPr>
            </a:pPr>
            <a:r>
              <a:t>연관관계 구축 완료</a:t>
            </a:r>
            <a:br/>
            <a:r>
              <a:t>KeyMap 확보</a:t>
            </a:r>
            <a:br/>
            <a:r>
              <a:t>DB 환경 구성 완료</a:t>
            </a:r>
            <a:br/>
            <a:r>
              <a:t>테스트데이터 운영 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560320"/>
            <a:ext cx="320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0C0C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71600"/>
            <a:ext cx="3291840" cy="3200400"/>
          </a:xfrm>
          <a:prstGeom prst="round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554480"/>
            <a:ext cx="32918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8F1FD"/>
                </a:solidFill>
                <a:latin typeface="맑은 고딕"/>
              </a:defRPr>
            </a:pPr>
            <a:r>
              <a:t>2026 Q2</a:t>
            </a:r>
            <a:br/>
            <a:r>
              <a:t>이번 제안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057400"/>
            <a:ext cx="3291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X-Scan + X-Purge</a:t>
            </a:r>
            <a:br/>
            <a:r>
              <a:t>+ X-Audit 추가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2834640"/>
            <a:ext cx="2194560" cy="18288"/>
          </a:xfrm>
          <a:prstGeom prst="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3017520"/>
            <a:ext cx="27432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F1FD"/>
                </a:solidFill>
                <a:latin typeface="맑은 고딕"/>
              </a:defRPr>
            </a:pPr>
            <a:r>
              <a:t>약 6주 구축</a:t>
            </a:r>
            <a:br/>
            <a:r>
              <a:t>파기 자동화 체계</a:t>
            </a:r>
            <a:br/>
            <a:r>
              <a:t>접근이력 수집/탐지</a:t>
            </a:r>
            <a:br/>
            <a:r>
              <a:t>소명/통합 대시보드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2560320"/>
            <a:ext cx="320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0C0C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371600"/>
            <a:ext cx="3291840" cy="32004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554480"/>
            <a:ext cx="32918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8F1FD"/>
                </a:solidFill>
                <a:latin typeface="맑은 고딕"/>
              </a:defRPr>
            </a:pPr>
            <a:r>
              <a:t>2026 Q3~</a:t>
            </a:r>
            <a:br/>
            <a:r>
              <a:t>목표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057400"/>
            <a:ext cx="3291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X-One</a:t>
            </a:r>
            <a:br/>
            <a:r>
              <a:t>거버넌스 완성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2834640"/>
            <a:ext cx="2194560" cy="18288"/>
          </a:xfrm>
          <a:prstGeom prst="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017520"/>
            <a:ext cx="27432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F1FD"/>
                </a:solidFill>
                <a:latin typeface="맑은 고딕"/>
              </a:defRPr>
            </a:pPr>
            <a:r>
              <a:t>4개 모듈 전체 운영</a:t>
            </a:r>
            <a:br/>
            <a:r>
              <a:t>통합 CPO 대시보드</a:t>
            </a:r>
            <a:br/>
            <a:r>
              <a:t>전사 거버넌스 완성</a:t>
            </a:r>
            <a:br/>
            <a:r>
              <a:t>감사/규제 대응 완벽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8463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B2A4A"/>
                </a:solidFill>
                <a:latin typeface="맑은 고딕"/>
              </a:defRPr>
            </a:pPr>
            <a:r>
              <a:t>X-One 모듈 활성화 현황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166360"/>
            <a:ext cx="2468880" cy="502920"/>
          </a:xfrm>
          <a:prstGeom prst="round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21208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X-Scan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21208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F1FD"/>
                </a:solidFill>
                <a:latin typeface="맑은 고딕"/>
              </a:defRPr>
            </a:pPr>
            <a:r>
              <a:t>이번 도입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40" y="5166360"/>
            <a:ext cx="2468880" cy="502920"/>
          </a:xfrm>
          <a:prstGeom prst="round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40" y="521208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X-Purge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21208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F1FD"/>
                </a:solidFill>
                <a:latin typeface="맑은 고딕"/>
              </a:defRPr>
            </a:pPr>
            <a:r>
              <a:t>이번 도입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5166360"/>
            <a:ext cx="2468880" cy="502920"/>
          </a:xfrm>
          <a:prstGeom prst="round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521208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X-Audit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521208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F1FD"/>
                </a:solidFill>
                <a:latin typeface="맑은 고딕"/>
              </a:defRPr>
            </a:pPr>
            <a:r>
              <a:t>이번 도입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5400" y="5166360"/>
            <a:ext cx="2468880" cy="502920"/>
          </a:xfrm>
          <a:prstGeom prst="roundRect">
            <a:avLst/>
          </a:prstGeom>
          <a:solidFill>
            <a:srgbClr val="2EA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521208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X-Gen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521208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F1FD"/>
                </a:solidFill>
                <a:latin typeface="맑은 고딕"/>
              </a:defRPr>
            </a:pPr>
            <a:r>
              <a:t>도입 완료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0C0C8"/>
                </a:solidFill>
                <a:latin typeface="맑은 고딕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707080"/>
                </a:solidFill>
                <a:latin typeface="맑은 고딕"/>
              </a:defRPr>
            </a:pPr>
            <a:r>
              <a:t>개인정보 관리,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이제는 시스템으로 증명하십시오.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423160"/>
            <a:ext cx="2286000" cy="36576"/>
          </a:xfrm>
          <a:prstGeom prst="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D7DF6"/>
                </a:solidFill>
                <a:latin typeface="맑은 고딕"/>
              </a:defRPr>
            </a:pPr>
            <a:r>
              <a:t>인지  X-Scan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83464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07080"/>
                </a:solidFill>
                <a:latin typeface="맑은 고딕"/>
              </a:defRPr>
            </a:pPr>
            <a:r>
              <a:t>개인정보가 어디에 있는지 자동으로 발견합니다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290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D7DF6"/>
                </a:solidFill>
                <a:latin typeface="맑은 고딕"/>
              </a:defRPr>
            </a:pPr>
            <a:r>
              <a:t>통제  X-Purge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42900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07080"/>
                </a:solidFill>
                <a:latin typeface="맑은 고딕"/>
              </a:defRPr>
            </a:pPr>
            <a:r>
              <a:t>보유기간 경과 시 완전히 파기하고 증명합니다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D7DF6"/>
                </a:solidFill>
                <a:latin typeface="맑은 고딕"/>
              </a:defRPr>
            </a:pPr>
            <a:r>
              <a:t>감시  X-Audit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02336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07080"/>
                </a:solidFill>
                <a:latin typeface="맑은 고딕"/>
              </a:defRPr>
            </a:pPr>
            <a:r>
              <a:t>누가 언제 왜 접근했는지 추적하고 소명합니다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177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D7DF6"/>
                </a:solidFill>
                <a:latin typeface="맑은 고딕"/>
              </a:defRPr>
            </a:pPr>
            <a:r>
              <a:t>활용  X-Gen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61772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07080"/>
                </a:solidFill>
                <a:latin typeface="맑은 고딕"/>
              </a:defRPr>
            </a:pPr>
            <a:r>
              <a:t>안전한 테스트데이터로 개발 환경을 보호합니다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X-One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07080"/>
                </a:solidFill>
                <a:latin typeface="맑은 고딕"/>
              </a:defRPr>
            </a:pPr>
            <a:r>
              <a:t>All Data. One Platform.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530352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320"/>
              </a:spcBef>
              <a:spcAft>
                <a:spcPts val="320"/>
              </a:spcAft>
              <a:defRPr b="1" sz="1500">
                <a:solidFill>
                  <a:srgbClr val="FFFFFF"/>
                </a:solidFill>
                <a:latin typeface="맑은 고딕"/>
              </a:defRPr>
            </a:pPr>
            <a:r>
              <a:t>데이터블록스 (Datablocks)</a:t>
            </a:r>
          </a:p>
          <a:p>
            <a:pPr algn="l">
              <a:lnSpc>
                <a:spcPts val="2400"/>
              </a:lnSpc>
              <a:spcBef>
                <a:spcPts val="320"/>
              </a:spcBef>
              <a:spcAft>
                <a:spcPts val="320"/>
              </a:spcAft>
              <a:defRPr b="0" sz="1200">
                <a:solidFill>
                  <a:srgbClr val="707080"/>
                </a:solidFill>
                <a:latin typeface="맑은 고딕"/>
              </a:defRPr>
            </a:pPr>
            <a:r>
              <a:t>솔루션 사업본부</a:t>
            </a:r>
          </a:p>
          <a:p>
            <a:pPr algn="l">
              <a:lnSpc>
                <a:spcPts val="2400"/>
              </a:lnSpc>
              <a:spcBef>
                <a:spcPts val="320"/>
              </a:spcBef>
              <a:spcAft>
                <a:spcPts val="320"/>
              </a:spcAft>
              <a:defRPr b="0" sz="600">
                <a:solidFill>
                  <a:srgbClr val="707080"/>
                </a:solidFill>
                <a:latin typeface="맑은 고딕"/>
              </a:defRPr>
            </a:pPr>
          </a:p>
          <a:p>
            <a:pPr algn="l">
              <a:lnSpc>
                <a:spcPts val="2400"/>
              </a:lnSpc>
              <a:spcBef>
                <a:spcPts val="320"/>
              </a:spcBef>
              <a:spcAft>
                <a:spcPts val="320"/>
              </a:spcAft>
              <a:defRPr b="0" sz="1300">
                <a:solidFill>
                  <a:srgbClr val="E8F1FD"/>
                </a:solidFill>
                <a:latin typeface="맑은 고딕"/>
              </a:defRPr>
            </a:pPr>
            <a:r>
              <a:t>차민석 이사  |  010-4036-7753</a:t>
            </a:r>
          </a:p>
          <a:p>
            <a:pPr algn="l">
              <a:lnSpc>
                <a:spcPts val="2400"/>
              </a:lnSpc>
              <a:spcBef>
                <a:spcPts val="320"/>
              </a:spcBef>
              <a:spcAft>
                <a:spcPts val="320"/>
              </a:spcAft>
              <a:defRPr b="0" sz="1200">
                <a:solidFill>
                  <a:srgbClr val="707080"/>
                </a:solidFill>
                <a:latin typeface="맑은 고딕"/>
              </a:defRPr>
            </a:pPr>
            <a:r>
              <a:t>mscha@datablocks.co.kr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6400800"/>
            <a:ext cx="6400800" cy="320040"/>
          </a:xfrm>
          <a:prstGeom prst="roundRect">
            <a:avLst/>
          </a:prstGeom>
          <a:solidFill>
            <a:srgbClr val="2D7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6428232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Next Step:  솔루션 데모 시연 → PoC 범위 확정 → 도입 추진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0C0C8"/>
                </a:solidFill>
                <a:latin typeface="맑은 고딕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